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5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62" y="115590"/>
            <a:ext cx="12191695" cy="6748272"/>
          </a:xfrm>
          <a:prstGeom prst="rect">
            <a:avLst/>
          </a:prstGeom>
          <a:solidFill>
            <a:srgbClr val="111827">
              <a:alpha val="90000"/>
            </a:srgbClr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822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Concert Venue Egress using Optimal Feedback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148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Nick Gilligan - I love bagels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Kene </a:t>
            </a:r>
            <a:r>
              <a:rPr lang="en-US" sz="1300" dirty="0" err="1">
                <a:solidFill>
                  <a:srgbClr val="CBD5E1"/>
                </a:solidFill>
              </a:rPr>
              <a:t>Nnolim</a:t>
            </a:r>
            <a:r>
              <a:rPr lang="en-US" sz="1300" dirty="0">
                <a:solidFill>
                  <a:srgbClr val="CBD5E1"/>
                </a:solidFill>
              </a:rPr>
              <a:t> - I speak 5 languages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Ben Volokh – I like seltzer-water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18.337 Final Project — May 2026</a:t>
            </a:r>
            <a:endParaRPr lang="en-US" sz="1300" dirty="0"/>
          </a:p>
        </p:txBody>
      </p:sp>
      <p:pic>
        <p:nvPicPr>
          <p:cNvPr id="14" name="Image 0" descr="/mnt/data/nb_images/tracer_agent_13_cell27.png"/>
          <p:cNvPicPr>
            <a:picLocks noChangeAspect="1"/>
          </p:cNvPicPr>
          <p:nvPr/>
        </p:nvPicPr>
        <p:blipFill>
          <a:blip r:embed="rId3"/>
          <a:srcRect l="6579" r="6579"/>
          <a:stretch/>
        </p:blipFill>
        <p:spPr>
          <a:xfrm>
            <a:off x="6217920" y="566928"/>
            <a:ext cx="5303520" cy="5303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46520" y="5989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Output: optimal feedback routes through a fixed crowd-density field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MFG proposal to single-agent HJB</a:t>
            </a:r>
            <a:endParaRPr lang="en-US" sz="2600" dirty="0"/>
          </a:p>
        </p:txBody>
      </p:sp>
      <p:pic>
        <p:nvPicPr>
          <p:cNvPr id="6" name="Image 0" descr="/mnt/data/nb_images/mfg_crowd_dynamics_01_cel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353312"/>
            <a:ext cx="388620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413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Original proposal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788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Mean Field Game: HJB + Fokker-Planck for a whole crowd.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83480" y="2834640"/>
            <a:ext cx="1097280" cy="45720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341985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deliberate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scope shift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6520" y="1234440"/>
            <a:ext cx="4892040" cy="3886200"/>
          </a:xfrm>
          <a:prstGeom prst="roundRect">
            <a:avLst>
              <a:gd name="adj" fmla="val 3529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84848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Final model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784848" y="2148840"/>
            <a:ext cx="41605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Density m(x) is prescribed, exogenous, and time-independent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Solve one regularized HJB PDE for cost-to-go v(t,x)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Recover optimal feedback field: α*(t,x) = -∇v(t,x)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Operational question: fastest route for one identified attendee or medic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scope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formulation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94944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D399"/>
                </a:solidFill>
              </a:rPr>
              <a:t>State and stopping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18470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ẋₜ = αₜ,     τ = inf { t ≥ 0 : xₜ ∈ Γₑ 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</a:rPr>
              <a:t>Cost functional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Regularized HJB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" y="4828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Boundary: v = 0 on exits; no-flux Neumann boundary constraints on walls.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325880"/>
            <a:ext cx="3977640" cy="42519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Physical interpretation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35240" y="2212848"/>
            <a:ext cx="31546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Kinetic term discourages unrealistic speed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 term penalizes pushing through crowds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Gradient of v points toward best exit in cost, not just distance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Artificial viscosity stabilizes the numerics, not the physics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formulation</a:t>
            </a:r>
            <a:endParaRPr lang="en-US" sz="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B6C87E-BC56-0767-7024-185F7D2C7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26388"/>
            <a:ext cx="5995737" cy="576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53036E-298C-FA31-144C-395CED413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60520"/>
            <a:ext cx="4566448" cy="576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Venue, mesh, and density field</a:t>
            </a:r>
            <a:endParaRPr lang="en-US" sz="2600" dirty="0"/>
          </a:p>
        </p:txBody>
      </p:sp>
      <p:pic>
        <p:nvPicPr>
          <p:cNvPr id="6" name="Image 0" descr="/mnt/data/nb_images/tracer_agent_01_cel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234440"/>
            <a:ext cx="452628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58887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Unstructured mesh</a:t>
            </a:r>
            <a:endParaRPr lang="en-US" sz="1300" dirty="0"/>
          </a:p>
        </p:txBody>
      </p:sp>
      <p:pic>
        <p:nvPicPr>
          <p:cNvPr id="8" name="Image 1" descr="/mnt/data/nb_images/tracer_agent_03_cell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91827"/>
            <a:ext cx="4709160" cy="4011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0" y="58887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Prescribed density m(x)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879592" y="1463040"/>
            <a:ext cx="36576" cy="4160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geometry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7408" y="1701018"/>
            <a:ext cx="1572768" cy="1051560"/>
          </a:xfrm>
          <a:prstGeom prst="chevron">
            <a:avLst/>
          </a:prstGeom>
          <a:solidFill>
            <a:srgbClr val="34D399">
              <a:alpha val="9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247" y="20848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1. Build mesh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tag exits + walls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1691640"/>
            <a:ext cx="1572768" cy="1051560"/>
          </a:xfrm>
          <a:prstGeom prst="chevron">
            <a:avLst/>
          </a:prstGeom>
          <a:solidFill>
            <a:srgbClr val="FBBF24">
              <a:alpha val="9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91256" y="2077329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2. Prescribe m(x)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baseline + Gaussian bumps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56048" y="1691640"/>
            <a:ext cx="1572768" cy="1051560"/>
          </a:xfrm>
          <a:prstGeom prst="chevron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206982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3. Solve HJB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6048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implicit Euler + Newton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95744" y="1691640"/>
            <a:ext cx="1572768" cy="1051560"/>
          </a:xfrm>
          <a:prstGeom prst="chevron">
            <a:avLst/>
          </a:prstGeom>
          <a:solidFill>
            <a:srgbClr val="F472B6">
              <a:alpha val="95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43216" y="20939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4. Integrate tracer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95744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xₖ₊₁ = xₖ - ∇v Δt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35440" y="1691640"/>
            <a:ext cx="1572768" cy="1051560"/>
          </a:xfrm>
          <a:prstGeom prst="chevron">
            <a:avLst/>
          </a:prstGeom>
          <a:solidFill>
            <a:srgbClr val="F43F5E">
              <a:alpha val="9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52279" y="209397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5. Detect exit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segment intersection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Discretized weak form solved at each Newton step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480560"/>
            <a:ext cx="106527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61872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Backward in time for v(t,x); then forward in time for the closed-loop path.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solver</a:t>
            </a:r>
            <a:endParaRPr lang="en-US" sz="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43A49D-39C0-DEE0-90F5-340C5CF6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892" y="4610373"/>
            <a:ext cx="9014215" cy="782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packages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474720" cy="443484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</a:rPr>
              <a:t>Core PDE 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029968"/>
            <a:ext cx="27889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Gridap: finite-element spaces, weak forms, assembly, boundary conditions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GridapGmsh: imports the Gmsh mesh and physical tags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Gridap.CellData / Geometry / FESpaces: gradients, cell fields, FE function handling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234440"/>
            <a:ext cx="3474720" cy="443484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Mesh + numerics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029968"/>
            <a:ext cx="27889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Gmsh: builds the Coachella-like polygonal venue mesh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LinearAlgebra + SparseArrays: sparse FEM systems and Newton solves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Statistics / Printf / Random: diagnostics, reproducibility, and formatted logging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234440"/>
            <a:ext cx="3383280" cy="44348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Visualization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2029968"/>
            <a:ext cx="26974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CairoMakie: plots mesh, density heatmaps, value fields, and trajectories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Notebook workflow: Pkg.activate(@__DIR__) keeps the project environment local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Same infrastructure supports future MFG extension with time-dependent density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43000" y="5907024"/>
            <a:ext cx="9875520" cy="502920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606247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Why these packages mattered: Gmsh gave the geometry; Gridap solved the weak-form HJB; CairoMakie made the results interpretable.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implementation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one solve, many routes</a:t>
            </a:r>
            <a:endParaRPr lang="en-US" sz="2600" dirty="0"/>
          </a:p>
        </p:txBody>
      </p:sp>
      <p:pic>
        <p:nvPicPr>
          <p:cNvPr id="6" name="Image 0" descr="/mnt/data/nb_images/tracer_agent_13_cell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084" y="1325880"/>
            <a:ext cx="5738553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417320"/>
            <a:ext cx="3566160" cy="429768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10144" y="1755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Key qualitative behavior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288036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Tracers avoid the yellow high-density core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Sparse-region starts take near-straight exits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“Nearest exit” means nearest-in-cost, not Euclidean distance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The cyan tracer rounds the plateau before exiting at Mojave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01000" y="48920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Deliverable for operations: route + estimated travel time τ from any reported location.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results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2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7027" y="5989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- </a:t>
            </a:r>
            <a:r>
              <a:rPr lang="en-US" sz="2800" b="1" dirty="0">
                <a:solidFill>
                  <a:srgbClr val="F8FAFC"/>
                </a:solidFill>
              </a:rPr>
              <a:t>Uniform-density check</a:t>
            </a:r>
            <a:endParaRPr lang="en-US" sz="28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validation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469308-FE4B-E639-BE78-A551ACD2D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907" y="1101852"/>
            <a:ext cx="5767879" cy="53022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 and next steps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4D399"/>
                </a:solidFill>
              </a:rPr>
              <a:t>What we kept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HJB structure of the original proposal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Finite-element solve on realistic venue geometry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Density-aware optimal feedback control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</a:rPr>
              <a:t>What we gave up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 self-consistent crowd response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 exit congestion fixed point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 is fixed snapshot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0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BDF8"/>
                </a:solidFill>
              </a:rPr>
              <a:t>Where it is useful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0100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Send medics to an attendee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Estimate travel time through crowd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10149840" cy="1234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17320" y="45537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Future extension: replace fixed m(x) with time-dependent m(x,t), then restore the Fokker-Planck equation to recover a true mean-field-game evacuation model.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takeaways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620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MIT 18.337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Single-Agent Optimal Feedback Control for Concert-Venue Egress</dc:title>
  <dc:subject>Single-Agent Optimal Feedback Control for Concert-Venue Egress</dc:subject>
  <dc:creator>OpenAI</dc:creator>
  <cp:lastModifiedBy>Nick Gilligan</cp:lastModifiedBy>
  <cp:revision>5</cp:revision>
  <dcterms:created xsi:type="dcterms:W3CDTF">2026-05-11T20:06:00Z</dcterms:created>
  <dcterms:modified xsi:type="dcterms:W3CDTF">2026-05-13T18:54:07Z</dcterms:modified>
</cp:coreProperties>
</file>