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05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111827">
              <a:alpha val="90000"/>
            </a:srgbClr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8229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Single-Agent Optimal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Control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for concert-venue egress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788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Nick Gilligan · Kene Nnolim · Ben Volokh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18.337 Final Project — May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3794760"/>
            <a:ext cx="1645920" cy="310896"/>
          </a:xfrm>
          <a:prstGeom prst="roundRect">
            <a:avLst>
              <a:gd name="adj" fmla="val 2058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6384" y="386334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HJB optimal control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3794760"/>
            <a:ext cx="1737360" cy="310896"/>
          </a:xfrm>
          <a:prstGeom prst="roundRect">
            <a:avLst>
              <a:gd name="adj" fmla="val 2058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87752" y="38633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Crowd-aware routing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34840" y="3794760"/>
            <a:ext cx="1417320" cy="310896"/>
          </a:xfrm>
          <a:prstGeom prst="roundRect">
            <a:avLst>
              <a:gd name="adj" fmla="val 20588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07992" y="386334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8FAFC"/>
                </a:solidFill>
              </a:rPr>
              <a:t>Medics / tracers</a:t>
            </a:r>
            <a:endParaRPr lang="en-US" sz="850" dirty="0"/>
          </a:p>
        </p:txBody>
      </p:sp>
      <p:pic>
        <p:nvPicPr>
          <p:cNvPr id="14" name="Image 0" descr="/mnt/data/nb_images/tracer_agent_13_cell27.png"/>
          <p:cNvPicPr>
            <a:picLocks noChangeAspect="1"/>
          </p:cNvPicPr>
          <p:nvPr/>
        </p:nvPicPr>
        <p:blipFill>
          <a:blip r:embed="rId3"/>
          <a:srcRect l="6579" r="6579"/>
          <a:stretch/>
        </p:blipFill>
        <p:spPr>
          <a:xfrm>
            <a:off x="6217920" y="566928"/>
            <a:ext cx="5303520" cy="5303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46520" y="5989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Output: optimal feedback routes through a fixed crowd-density field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MFG proposal to single-agent HJB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Key modeling choice: freeze the crowd density over a tracer crossing time.</a:t>
            </a:r>
            <a:endParaRPr lang="en-US" sz="950" dirty="0"/>
          </a:p>
        </p:txBody>
      </p:sp>
      <p:pic>
        <p:nvPicPr>
          <p:cNvPr id="6" name="Image 0" descr="/mnt/data/nb_images/mfg_crowd_dynamics_01_cell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353312"/>
            <a:ext cx="388620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413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</a:rPr>
              <a:t>Original proposal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788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Mean Field Game: HJB + Fokker-Planck for a whole crowd.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83480" y="2834640"/>
            <a:ext cx="1097280" cy="457200"/>
          </a:xfrm>
          <a:prstGeom prst="rightArrow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2040" y="341985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deliberate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scope shift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6520" y="1234440"/>
            <a:ext cx="4892040" cy="3886200"/>
          </a:xfrm>
          <a:prstGeom prst="roundRect">
            <a:avLst>
              <a:gd name="adj" fmla="val 3529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84848" y="1600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</a:rPr>
              <a:t>Final model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784848" y="2148840"/>
            <a:ext cx="41605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Density m(x) is prescribed, exogenous, and time-independent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Solve one regularized HJB PDE for cost-to-go v(t,x)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Recover optimal feedback field: α*(t,x) = -∇v(t,x)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Operational question: fastest route for one identified attendee or medic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scope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formulation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 deterministic controlled tracer moves until it hits an exit segment.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94944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D399"/>
                </a:solidFill>
              </a:rPr>
              <a:t>State and stopping time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4944" y="18470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8FAFC"/>
                </a:solidFill>
              </a:rPr>
              <a:t>ẋₜ = αₜ,     τ = inf { t ≥ 0 : xₜ ∈ Γₑ 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BF24"/>
                </a:solidFill>
              </a:rPr>
              <a:t>Cost functional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4944" y="308152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</a:rPr>
              <a:t>J(α;x₀) = ∫₀ᵗᵃᵘ [ ½|αₜ|² + κ log(m(xₜ)+ε) ] dt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</a:rPr>
              <a:t>Regularized HJB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4944" y="42976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</a:rPr>
              <a:t>-∂ₜv - (σ²art/2) Δv + ½|∇v|² = κ log(m(x)+ε)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48280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Boundary: v = 0 on exits; no-flux Neumann on walls.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1325880"/>
            <a:ext cx="3977640" cy="42519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Physical interpretation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35240" y="2212848"/>
            <a:ext cx="31546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Kinetic term discourages unrealistic speed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Density term penalizes pushing through crowds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Gradient of v points toward best exit in cost, not just distance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Artificial viscosity stabilizes the numerics, not the physics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formulation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Venue, mesh, and density field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Coachella-like polygon with five tagged exit segments.</a:t>
            </a:r>
            <a:endParaRPr lang="en-US" sz="950" dirty="0"/>
          </a:p>
        </p:txBody>
      </p:sp>
      <p:pic>
        <p:nvPicPr>
          <p:cNvPr id="6" name="Image 0" descr="/mnt/data/nb_images/tracer_agent_01_cell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234440"/>
            <a:ext cx="452628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58887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Unstructured mesh</a:t>
            </a:r>
            <a:endParaRPr lang="en-US" sz="1300" dirty="0"/>
          </a:p>
        </p:txBody>
      </p:sp>
      <p:pic>
        <p:nvPicPr>
          <p:cNvPr id="8" name="Image 1" descr="/mnt/data/nb_images/tracer_agent_03_cell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91827"/>
            <a:ext cx="4709160" cy="40115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0" y="58887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</a:rPr>
              <a:t>Prescribed density m(x)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879592" y="1463040"/>
            <a:ext cx="36576" cy="4160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geometry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Numerical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One backward HJB solve produces a reusable feedback field.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6656" y="1691640"/>
            <a:ext cx="1572768" cy="1051560"/>
          </a:xfrm>
          <a:prstGeom prst="chevron">
            <a:avLst/>
          </a:prstGeom>
          <a:solidFill>
            <a:srgbClr val="34D399">
              <a:alpha val="9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1. Build mesh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tag exits + walls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16352" y="1691640"/>
            <a:ext cx="1572768" cy="1051560"/>
          </a:xfrm>
          <a:prstGeom prst="chevron">
            <a:avLst/>
          </a:prstGeom>
          <a:solidFill>
            <a:srgbClr val="FBBF24">
              <a:alpha val="95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89504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2. Prescribe m(x)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baseline + Gaussian bumps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56048" y="1691640"/>
            <a:ext cx="1572768" cy="1051560"/>
          </a:xfrm>
          <a:prstGeom prst="chevron">
            <a:avLst/>
          </a:prstGeom>
          <a:solidFill>
            <a:srgbClr val="38BDF8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3. Solve HJB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56048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implicit Euler + Newton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95744" y="1691640"/>
            <a:ext cx="1572768" cy="1051560"/>
          </a:xfrm>
          <a:prstGeom prst="chevron">
            <a:avLst/>
          </a:prstGeom>
          <a:solidFill>
            <a:srgbClr val="F472B6">
              <a:alpha val="95000"/>
            </a:srgbClr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68896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4. Integrate tracer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95744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xₖ₊₁ = xₖ - ∇v Δt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35440" y="1691640"/>
            <a:ext cx="1572768" cy="1051560"/>
          </a:xfrm>
          <a:prstGeom prst="chevron">
            <a:avLst/>
          </a:prstGeom>
          <a:solidFill>
            <a:srgbClr val="F43F5E">
              <a:alpha val="95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08592" y="1938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020"/>
                </a:solidFill>
              </a:rPr>
              <a:t>5. Detect exit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3544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segment intersection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023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Discretized weak form actually solved at each Newton step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480560"/>
            <a:ext cx="10652760" cy="109728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709160"/>
            <a:ext cx="10104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∫ vⁿw + Δt(σ²art/2)∇vⁿ·∇w + Δt(∇vᵏ·∇vⁿ)w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8FAFC"/>
                </a:solidFill>
              </a:rPr>
              <a:t>= ∫ vⁿ⁺¹w + ΔtFw + (Δt/2)|∇vᵏ|²w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61872" y="58064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</a:rPr>
              <a:t>Backward in time for v(t,x); then forward in time for the closed-loop path.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solver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packages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Julia-based FEM and meshing stack for PDE control on an irregular venue.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474720" cy="443484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</a:rPr>
              <a:t>Core PDE stack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2029968"/>
            <a:ext cx="27889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Gridap: finite-element spaces, weak forms, assembly, boundary conditions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GridapGmsh: imports the Gmsh mesh and physical tags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Gridap.CellData / Geometry / FESpaces: gradients, cell fields, FE function handling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1234440"/>
            <a:ext cx="3474720" cy="443484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Mesh + numerics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029968"/>
            <a:ext cx="27889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Gmsh: builds the Coachella-like polygonal venue mesh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LinearAlgebra + SparseArrays: sparse FEM systems and Newton solves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Statistics / Printf / Random: diagnostics, reproducibility, and formatted logging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19872" y="1234440"/>
            <a:ext cx="3383280" cy="4434840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Visualization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2029968"/>
            <a:ext cx="269748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CairoMakie: plots mesh, density heatmaps, value fields, and trajectories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Notebook workflow: Pkg.activate(@__DIR__) keeps the project environment local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Same infrastructure supports future MFG extension with time-dependent density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43000" y="5907024"/>
            <a:ext cx="9875520" cy="502920"/>
          </a:xfrm>
          <a:prstGeom prst="roundRect">
            <a:avLst>
              <a:gd name="adj" fmla="val 21818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7320" y="606247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</a:rPr>
              <a:t>Why these packages mattered: Gmsh gave the geometry; Gridap solved the weak-form HJB; CairoMakie made the results interpretable.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implementation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one solve, many routes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Eight starting points follow the same optimal feedback field.</a:t>
            </a:r>
            <a:endParaRPr lang="en-US" sz="950" dirty="0"/>
          </a:p>
        </p:txBody>
      </p:sp>
      <p:pic>
        <p:nvPicPr>
          <p:cNvPr id="6" name="Image 0" descr="/mnt/data/nb_images/tracer_agent_13_cell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084" y="1325880"/>
            <a:ext cx="5738553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417320"/>
            <a:ext cx="3566160" cy="429768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10144" y="1755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Key qualitative behavior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01000" y="2331720"/>
            <a:ext cx="288036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Tracers avoid the yellow high-density core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Sparse-region starts take near-straight exits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“Nearest exit” means nearest-in-cost, not Euclidean distance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The cyan tracer rounds the plateau before exiting at Mojave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01000" y="48920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</a:rPr>
              <a:t>Deliverable for operations: route + estimated travel time τ from any reported location.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results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and numerical sensitivity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Uniform-density limit gives an analytic benchmark.</a:t>
            </a:r>
            <a:endParaRPr lang="en-US" sz="950" dirty="0"/>
          </a:p>
        </p:txBody>
      </p:sp>
      <p:pic>
        <p:nvPicPr>
          <p:cNvPr id="6" name="Image 0" descr="/mnt/data/nb_images/tracer_agent_14_cell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99868"/>
            <a:ext cx="4572000" cy="203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234440"/>
            <a:ext cx="525780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09360" y="1572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Uniform-density check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09360" y="202996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If F ≡ c₀, the optimal path is a straight line at speed √(2c₀).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τpred = L / √(2c₀); for c₀ = 2, τpred = L/2.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3657600"/>
            <a:ext cx="5257800" cy="16002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360" y="3959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Sensitivity to σart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09360" y="4370832"/>
            <a:ext cx="4297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Too small: Galerkin convection oscillates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Too large: v is over-smoothed and trajectories straighten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</a:rPr>
              <a:t>Used σart = 0.3 for robustness on irregular mesh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 and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10058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A tractable single-PDE model that is directly useful for extraction routing.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9808" y="1298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4D399"/>
                </a:solidFill>
              </a:rPr>
              <a:t>What we kept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HJB structure of the original proposal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Finite-element solve on realistic venue geometry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Density-aware optimal feedback control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1298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BF24"/>
                </a:solidFill>
              </a:rPr>
              <a:t>What we gave up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48056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No self-consistent crowd response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No exit congestion fixed point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Density is fixed snapshot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01000" y="12984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8BDF8"/>
                </a:solidFill>
              </a:rPr>
              <a:t>Where it is useful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01000" y="1783080"/>
            <a:ext cx="3246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Vector medics to an attendee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Estimate travel time through crowd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Recompute when density snapshot updates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5840" y="4206240"/>
            <a:ext cx="10149840" cy="12344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17320" y="455371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</a:rPr>
              <a:t>Future extension: replace fixed m(x) with time-dependent m(x,t), then restore the Fokker-Planck equation to recover a true mean-field-game evacuation model.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571500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BDF8"/>
                </a:solidFill>
              </a:rPr>
              <a:t>Bottom line: one HJB solve turns a crowd-density snapshot into a full venue-wide routing policy.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18.337 Final Project  |  takeaways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</Words>
  <Application>Microsoft Macintosh PowerPoint</Application>
  <PresentationFormat>Widescreen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MIT 18.337 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Single-Agent Optimal Feedback Control for Concert-Venue Egress</dc:title>
  <dc:subject>Single-Agent Optimal Feedback Control for Concert-Venue Egress</dc:subject>
  <dc:creator>OpenAI</dc:creator>
  <cp:lastModifiedBy>Ben Volokh</cp:lastModifiedBy>
  <cp:revision>2</cp:revision>
  <dcterms:created xsi:type="dcterms:W3CDTF">2026-05-11T20:06:00Z</dcterms:created>
  <dcterms:modified xsi:type="dcterms:W3CDTF">2026-05-12T01:50:43Z</dcterms:modified>
</cp:coreProperties>
</file>