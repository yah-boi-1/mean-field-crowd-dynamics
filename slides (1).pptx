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0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905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111827">
              <a:alpha val="90000"/>
            </a:srgbClr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58368" y="82296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Concert Venue Egress using Optimal Feedback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85800" y="21488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13232" y="278892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</a:rPr>
              <a:t>Nick Gilligan · Kene Nnolim · Ben Volokh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</a:rPr>
              <a:t>18.337 Final Project — May 2026</a:t>
            </a:r>
            <a:endParaRPr lang="en-US" sz="1300" dirty="0"/>
          </a:p>
        </p:txBody>
      </p:sp>
      <p:pic>
        <p:nvPicPr>
          <p:cNvPr id="14" name="Image 0" descr="/mnt/data/nb_images/tracer_agent_13_cell27.png"/>
          <p:cNvPicPr>
            <a:picLocks noChangeAspect="1"/>
          </p:cNvPicPr>
          <p:nvPr/>
        </p:nvPicPr>
        <p:blipFill>
          <a:blip r:embed="rId3"/>
          <a:srcRect l="6579" r="6579"/>
          <a:stretch/>
        </p:blipFill>
        <p:spPr>
          <a:xfrm>
            <a:off x="6217920" y="566928"/>
            <a:ext cx="5303520" cy="530352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446520" y="59893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</a:rPr>
              <a:t>Output: optimal feedback routes through a fixed crowd-density field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MFG proposal to single-agent HJB</a:t>
            </a:r>
            <a:endParaRPr lang="en-US" sz="2600" dirty="0"/>
          </a:p>
        </p:txBody>
      </p:sp>
      <p:pic>
        <p:nvPicPr>
          <p:cNvPr id="6" name="Image 0" descr="/mnt/data/nb_images/mfg_crowd_dynamics_01_cell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353312"/>
            <a:ext cx="3886200" cy="3886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54132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8FAFC"/>
                </a:solidFill>
              </a:rPr>
              <a:t>Original proposal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57881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</a:rPr>
              <a:t>Mean Field Game: HJB + Fokker-Planck for a whole crowd.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983480" y="2834640"/>
            <a:ext cx="1097280" cy="457200"/>
          </a:xfrm>
          <a:prstGeom prst="rightArrow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892040" y="3419856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8BDF8"/>
                </a:solidFill>
              </a:rPr>
              <a:t>deliberate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38BDF8"/>
                </a:solidFill>
              </a:rPr>
              <a:t>scope shift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446520" y="1234440"/>
            <a:ext cx="4892040" cy="3886200"/>
          </a:xfrm>
          <a:prstGeom prst="roundRect">
            <a:avLst>
              <a:gd name="adj" fmla="val 3529"/>
            </a:avLst>
          </a:prstGeom>
          <a:solidFill>
            <a:srgbClr val="1E293B">
              <a:alpha val="95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784848" y="160020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8FAFC"/>
                </a:solidFill>
              </a:rPr>
              <a:t>Final model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6784848" y="2148840"/>
            <a:ext cx="4160520" cy="2148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</a:rPr>
              <a:t>Density m(x) is prescribed, exogenous, and time-independent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</a:rPr>
              <a:t>Solve one regularized HJB PDE for cost-to-go v(t,x)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</a:rPr>
              <a:t>Recover optimal feedback field: α*(t,x) = -∇v(t,x)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</a:rPr>
              <a:t>Operational question: fastest route for one identified attendee or medic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02920" y="6528816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</a:rPr>
              <a:t>18.337 Final Project  |  scope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 formulation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94944" y="1417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4D399"/>
                </a:solidFill>
              </a:rPr>
              <a:t>State and stopping time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94944" y="184708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8FAFC"/>
                </a:solidFill>
              </a:rPr>
              <a:t>ẋₜ = αₜ,     τ = inf { t ≥ 0 : xₜ ∈ Γₑ }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94944" y="2651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BBF24"/>
                </a:solidFill>
              </a:rPr>
              <a:t>Cost functional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94944" y="3886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8BDF8"/>
                </a:solidFill>
              </a:rPr>
              <a:t>Regularized HJB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13232" y="4828032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</a:rPr>
              <a:t>Boundary: v = 0 on exits; no-flux Neumann boundary constraints on walls.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0" y="1325880"/>
            <a:ext cx="3977640" cy="4251960"/>
          </a:xfrm>
          <a:prstGeom prst="roundRect">
            <a:avLst>
              <a:gd name="adj" fmla="val 4138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635240" y="1691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8FAFC"/>
                </a:solidFill>
              </a:rPr>
              <a:t>Physical interpretation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635240" y="2212848"/>
            <a:ext cx="3154680" cy="2423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F8FAFC"/>
                </a:solidFill>
              </a:rPr>
              <a:t>Kinetic term discourages unrealistic speed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F8FAFC"/>
                </a:solidFill>
              </a:rPr>
              <a:t>Density term penalizes pushing through crowds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F8FAFC"/>
                </a:solidFill>
              </a:rPr>
              <a:t>Gradient of v points toward best exit in cost, not just distance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F8FAFC"/>
                </a:solidFill>
              </a:rPr>
              <a:t>Artificial viscosity stabilizes the numerics, not the physics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02920" y="6528816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</a:rPr>
              <a:t>18.337 Final Project  |  formulation</a:t>
            </a:r>
            <a:endParaRPr lang="en-US" sz="75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1B6C87E-BC56-0767-7024-185F7D2C7B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026388"/>
            <a:ext cx="5995737" cy="57634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453036E-298C-FA31-144C-395CED413E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4160520"/>
            <a:ext cx="4566448" cy="5763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Venue, mesh, and density field</a:t>
            </a:r>
            <a:endParaRPr lang="en-US" sz="2600" dirty="0"/>
          </a:p>
        </p:txBody>
      </p:sp>
      <p:pic>
        <p:nvPicPr>
          <p:cNvPr id="6" name="Image 0" descr="/mnt/data/nb_images/tracer_agent_01_cell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1234440"/>
            <a:ext cx="4526280" cy="4526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44752" y="58887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</a:rPr>
              <a:t>Unstructured mesh</a:t>
            </a:r>
            <a:endParaRPr lang="en-US" sz="1300" dirty="0"/>
          </a:p>
        </p:txBody>
      </p:sp>
      <p:pic>
        <p:nvPicPr>
          <p:cNvPr id="8" name="Image 1" descr="/mnt/data/nb_images/tracer_agent_03_cell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491827"/>
            <a:ext cx="4709160" cy="401150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498080" y="58887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</a:rPr>
              <a:t>Prescribed density m(x)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879592" y="1463040"/>
            <a:ext cx="36576" cy="41605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502920" y="6528816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</a:rPr>
              <a:t>18.337 Final Project  |  geometry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Numerical pipeline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97408" y="1701018"/>
            <a:ext cx="1572768" cy="1051560"/>
          </a:xfrm>
          <a:prstGeom prst="chevron">
            <a:avLst/>
          </a:prstGeom>
          <a:solidFill>
            <a:srgbClr val="34D399">
              <a:alpha val="95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247" y="2084832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</a:rPr>
              <a:t>1. Build mesh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76656" y="29718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</a:rPr>
              <a:t>tag exits + walls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16352" y="1691640"/>
            <a:ext cx="1572768" cy="1051560"/>
          </a:xfrm>
          <a:prstGeom prst="chevron">
            <a:avLst/>
          </a:prstGeom>
          <a:solidFill>
            <a:srgbClr val="FBBF24">
              <a:alpha val="95000"/>
            </a:srgbClr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191256" y="2077329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</a:rPr>
              <a:t>2. Prescribe m(x)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816352" y="29718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</a:rPr>
              <a:t>baseline + Gaussian bumps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56048" y="1691640"/>
            <a:ext cx="1572768" cy="1051560"/>
          </a:xfrm>
          <a:prstGeom prst="chevron">
            <a:avLst/>
          </a:prstGeom>
          <a:solidFill>
            <a:srgbClr val="38BDF8">
              <a:alpha val="95000"/>
            </a:srgbClr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212080" y="2069826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</a:rPr>
              <a:t>3. Solve HJB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956048" y="29718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</a:rPr>
              <a:t>implicit Euler + Newton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095744" y="1691640"/>
            <a:ext cx="1572768" cy="1051560"/>
          </a:xfrm>
          <a:prstGeom prst="chevron">
            <a:avLst/>
          </a:prstGeom>
          <a:solidFill>
            <a:srgbClr val="F472B6">
              <a:alpha val="95000"/>
            </a:srgbClr>
          </a:solidFill>
          <a:ln w="12700">
            <a:solidFill>
              <a:srgbClr val="F472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443216" y="2093976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</a:rPr>
              <a:t>4. Integrate tracer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095744" y="29718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</a:rPr>
              <a:t>xₖ₊₁ = xₖ - ∇v Δt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235440" y="1691640"/>
            <a:ext cx="1572768" cy="1051560"/>
          </a:xfrm>
          <a:prstGeom prst="chevron">
            <a:avLst/>
          </a:prstGeom>
          <a:solidFill>
            <a:srgbClr val="F43F5E">
              <a:alpha val="95000"/>
            </a:srgbClr>
          </a:solidFill>
          <a:ln w="127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552279" y="2093976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</a:rPr>
              <a:t>5. Detect exit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235440" y="29718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</a:rPr>
              <a:t>segment intersection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" y="4023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8FAFC"/>
                </a:solidFill>
              </a:rPr>
              <a:t>Discretized weak form actually solved at each Newton step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49808" y="4480560"/>
            <a:ext cx="10652760" cy="109728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261872" y="5806440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BD5E1"/>
                </a:solidFill>
              </a:rPr>
              <a:t>Backward in time for v(t,x); then forward in time for the closed-loop path.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02920" y="6528816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</a:rPr>
              <a:t>18.337 Final Project  |  solver</a:t>
            </a:r>
            <a:endParaRPr lang="en-US" sz="75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4B43A49D-39C0-DEE0-90F5-340C5CF650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8892" y="4610373"/>
            <a:ext cx="9014215" cy="78232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Implementation packages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85800" y="1234440"/>
            <a:ext cx="3474720" cy="443484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87552" y="15727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4D399"/>
                </a:solidFill>
              </a:rPr>
              <a:t>Core PDE stack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87552" y="2029968"/>
            <a:ext cx="2788920" cy="2240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F8FAFC"/>
                </a:solidFill>
              </a:rPr>
              <a:t>Gridap: finite-element spaces, weak forms, assembly, boundary conditions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F8FAFC"/>
                </a:solidFill>
              </a:rPr>
              <a:t>GridapGmsh: imports the Gmsh mesh and physical tags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F8FAFC"/>
                </a:solidFill>
              </a:rPr>
              <a:t>Gridap.CellData / Geometry / FESpaces: gradients, cell fields, FE function handling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07408" y="1234440"/>
            <a:ext cx="3474720" cy="443484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709160" y="15727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BBF24"/>
                </a:solidFill>
              </a:rPr>
              <a:t>Mesh + numerics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709160" y="2029968"/>
            <a:ext cx="2788920" cy="2240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F8FAFC"/>
                </a:solidFill>
              </a:rPr>
              <a:t>Gmsh: builds the Coachella-like polygonal venue mesh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F8FAFC"/>
                </a:solidFill>
              </a:rPr>
              <a:t>LinearAlgebra + SparseArrays: sparse FEM systems and Newton solves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F8FAFC"/>
                </a:solidFill>
              </a:rPr>
              <a:t>Statistics / Printf / Random: diagnostics, reproducibility, and formatted logging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19872" y="1234440"/>
            <a:ext cx="3383280" cy="4434840"/>
          </a:xfrm>
          <a:prstGeom prst="roundRect">
            <a:avLst>
              <a:gd name="adj" fmla="val 4054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412480" y="15727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8BDF8"/>
                </a:solidFill>
              </a:rPr>
              <a:t>Visualization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412480" y="2029968"/>
            <a:ext cx="2697480" cy="2240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F8FAFC"/>
                </a:solidFill>
              </a:rPr>
              <a:t>CairoMakie: plots mesh, density heatmaps, value fields, and trajectories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F8FAFC"/>
                </a:solidFill>
              </a:rPr>
              <a:t>Notebook workflow: Pkg.activate(@__DIR__) keeps the project environment local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F8FAFC"/>
                </a:solidFill>
              </a:rPr>
              <a:t>Same infrastructure supports future MFG extension with time-dependent density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143000" y="5907024"/>
            <a:ext cx="9875520" cy="502920"/>
          </a:xfrm>
          <a:prstGeom prst="roundRect">
            <a:avLst>
              <a:gd name="adj" fmla="val 21818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417320" y="6062472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</a:rPr>
              <a:t>Why these packages mattered: Gmsh gave the geometry; Gridap solved the weak-form HJB; CairoMakie made the results interpretable.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02920" y="6528816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</a:rPr>
              <a:t>18.337 Final Project  |  implementation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Results: one solve, many routes</a:t>
            </a:r>
            <a:endParaRPr lang="en-US" sz="2600" dirty="0"/>
          </a:p>
        </p:txBody>
      </p:sp>
      <p:pic>
        <p:nvPicPr>
          <p:cNvPr id="6" name="Image 0" descr="/mnt/data/nb_images/tracer_agent_13_cell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4084" y="1325880"/>
            <a:ext cx="5738553" cy="4983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726680" y="1417320"/>
            <a:ext cx="3566160" cy="4297680"/>
          </a:xfrm>
          <a:prstGeom prst="roundRect">
            <a:avLst>
              <a:gd name="adj" fmla="val 3846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010144" y="17556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8FAFC"/>
                </a:solidFill>
              </a:rPr>
              <a:t>Key qualitative behavior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001000" y="2331720"/>
            <a:ext cx="2880360" cy="2240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F8FAFC"/>
                </a:solidFill>
              </a:rPr>
              <a:t>Tracers avoid the yellow high-density core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F8FAFC"/>
                </a:solidFill>
              </a:rPr>
              <a:t>Sparse-region starts take near-straight exits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F8FAFC"/>
                </a:solidFill>
              </a:rPr>
              <a:t>“Nearest exit” means nearest-in-cost, not Euclidean distance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F8FAFC"/>
                </a:solidFill>
              </a:rPr>
              <a:t>The cyan tracer rounds the plateau before exiting at Mojave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001000" y="489204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38BDF8"/>
                </a:solidFill>
              </a:rPr>
              <a:t>Deliverable for operations: route + estimated travel time τ from any reported location.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02920" y="6528816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</a:rPr>
              <a:t>18.337 Final Project  |  results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37027" y="59893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Validation - </a:t>
            </a:r>
            <a:r>
              <a:rPr lang="en-US" sz="2800" b="1" dirty="0">
                <a:solidFill>
                  <a:srgbClr val="F8FAFC"/>
                </a:solidFill>
              </a:rPr>
              <a:t>Uniform-density check</a:t>
            </a:r>
            <a:endParaRPr lang="en-US" sz="2800" dirty="0"/>
          </a:p>
          <a:p>
            <a:pPr marL="0" indent="0">
              <a:buNone/>
            </a:pPr>
            <a:endParaRPr lang="en-US" sz="2600" dirty="0"/>
          </a:p>
        </p:txBody>
      </p:sp>
      <p:pic>
        <p:nvPicPr>
          <p:cNvPr id="6" name="Image 0" descr="/mnt/data/nb_images/tracer_agent_14_cell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429" y="1504409"/>
            <a:ext cx="9308123" cy="413694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02920" y="6528816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</a:rPr>
              <a:t>18.337 Final Project  |  validation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Takeaways and next steps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49808" y="129844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4D399"/>
                </a:solidFill>
              </a:rPr>
              <a:t>What we kept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32461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F8FAFC"/>
                </a:solidFill>
              </a:rPr>
              <a:t>HJB structure of the original proposal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F8FAFC"/>
                </a:solidFill>
              </a:rPr>
              <a:t>Finite-element solve on realistic venue geometry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F8FAFC"/>
                </a:solidFill>
              </a:rPr>
              <a:t>Density-aware optimal feedback control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480560" y="129844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BBF24"/>
                </a:solidFill>
              </a:rPr>
              <a:t>What we gave up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480560" y="1783080"/>
            <a:ext cx="32461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F8FAFC"/>
                </a:solidFill>
              </a:rPr>
              <a:t>No self-consistent crowd response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F8FAFC"/>
                </a:solidFill>
              </a:rPr>
              <a:t>No exit congestion fixed point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F8FAFC"/>
                </a:solidFill>
              </a:rPr>
              <a:t>Density is fixed snapshot data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001000" y="129844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8BDF8"/>
                </a:solidFill>
              </a:rPr>
              <a:t>Where it is useful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001000" y="1783080"/>
            <a:ext cx="32461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F8FAFC"/>
                </a:solidFill>
              </a:rPr>
              <a:t>Send medics to an attendee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F8FAFC"/>
                </a:solidFill>
              </a:rPr>
              <a:t>Estimate travel time through crowd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005840" y="4206240"/>
            <a:ext cx="10149840" cy="1234440"/>
          </a:xfrm>
          <a:prstGeom prst="roundRect">
            <a:avLst>
              <a:gd name="adj" fmla="val 13333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417320" y="4553712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8FAFC"/>
                </a:solidFill>
              </a:rPr>
              <a:t>Future extension: replace fixed m(x) with time-dependent m(x,t), then restore the Fokker-Planck equation to recover a true mean-field-game evacuation model.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02920" y="6528816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</a:rPr>
              <a:t>18.337 Final Project  |  takeaways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610</Words>
  <Application>Microsoft Office PowerPoint</Application>
  <PresentationFormat>Widescreen</PresentationFormat>
  <Paragraphs>93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MIT 18.337 Final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Single-Agent Optimal Feedback Control for Concert-Venue Egress</dc:title>
  <dc:subject>Single-Agent Optimal Feedback Control for Concert-Venue Egress</dc:subject>
  <dc:creator>OpenAI</dc:creator>
  <cp:lastModifiedBy>Nick Gilligan</cp:lastModifiedBy>
  <cp:revision>3</cp:revision>
  <dcterms:created xsi:type="dcterms:W3CDTF">2026-05-11T20:06:00Z</dcterms:created>
  <dcterms:modified xsi:type="dcterms:W3CDTF">2026-05-12T17:47:20Z</dcterms:modified>
</cp:coreProperties>
</file>